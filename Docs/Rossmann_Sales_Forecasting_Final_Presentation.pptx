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1F3A"/>
                </a:solidFill>
                <a:latin typeface="Calibri"/>
              </a:rPr>
              <a:t>Missing data by field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rows missing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Competition
Distance</c:v>
                </c:pt>
                <c:pt idx="1">
                  <c:v>Competition
Open Date</c:v>
                </c:pt>
                <c:pt idx="2">
                  <c:v>Promo2
Fields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</c:v>
                </c:pt>
                <c:pt idx="1">
                  <c:v>31.75</c:v>
                </c:pt>
                <c:pt idx="2">
                  <c:v>48.79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2-44FB-9F08-F65B4A136A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0B1F3A"/>
                </a:solidFill>
                <a:latin typeface="Calibri"/>
              </a:rPr>
              <a:t>Average log-sales by driver (statistically significant, p ≈ 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log-sales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D6-4E12-BFCC-F13E081451F8}"/>
              </c:ext>
            </c:extLst>
          </c:dPt>
          <c:dPt>
            <c:idx val="1"/>
            <c:invertIfNegative val="0"/>
            <c:bubble3D val="0"/>
            <c:spPr>
              <a:solidFill>
                <a:srgbClr val="00C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D6-4E12-BFCC-F13E081451F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2D6-4E12-BFCC-F13E081451F8}"/>
              </c:ext>
            </c:extLst>
          </c:dPt>
          <c:dPt>
            <c:idx val="3"/>
            <c:invertIfNegative val="0"/>
            <c:bubble3D val="0"/>
            <c:spPr>
              <a:solidFill>
                <a:srgbClr val="00C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D6-4E12-BFCC-F13E081451F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2D6-4E12-BFCC-F13E081451F8}"/>
              </c:ext>
            </c:extLst>
          </c:dPt>
          <c:dPt>
            <c:idx val="5"/>
            <c:invertIfNegative val="0"/>
            <c:bubble3D val="0"/>
            <c:spPr>
              <a:solidFill>
                <a:srgbClr val="00C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2D6-4E12-BFCC-F13E081451F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 Promo</c:v>
                </c:pt>
                <c:pt idx="1">
                  <c:v>Promo Active</c:v>
                </c:pt>
                <c:pt idx="2">
                  <c:v>Other Types</c:v>
                </c:pt>
                <c:pt idx="3">
                  <c:v>StoreType B</c:v>
                </c:pt>
                <c:pt idx="4">
                  <c:v>January</c:v>
                </c:pt>
                <c:pt idx="5">
                  <c:v>December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</c:v>
                </c:pt>
                <c:pt idx="1">
                  <c:v>8.9499999999999993</c:v>
                </c:pt>
                <c:pt idx="2">
                  <c:v>8.75</c:v>
                </c:pt>
                <c:pt idx="3">
                  <c:v>9.11</c:v>
                </c:pt>
                <c:pt idx="4">
                  <c:v>8.6999999999999993</c:v>
                </c:pt>
                <c:pt idx="5">
                  <c:v>8.9499999999999993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2D6-4E12-BFCC-F13E081451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1F3A"/>
                </a:solidFill>
                <a:latin typeface="Calibri"/>
              </a:rPr>
              <a:t>R² — 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DE1-4E96-81C5-BB25E09EA0BA}"/>
              </c:ext>
            </c:extLst>
          </c:dPt>
          <c:dPt>
            <c:idx val="1"/>
            <c:invertIfNegative val="0"/>
            <c:bubble3D val="0"/>
            <c:spPr>
              <a:solidFill>
                <a:srgbClr val="00C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E1-4E96-81C5-BB25E09EA0BA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LightGBM</c:v>
                </c:pt>
                <c:pt idx="1">
                  <c:v>XGBoost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82.25</c:v>
                </c:pt>
                <c:pt idx="1">
                  <c:v>83.06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E1-4E96-81C5-BB25E09EA0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69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00C87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ROUND 4 · AI &amp; DATA SCIENCE TRACK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Rossmann Sales Forecasting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Optimization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store transactions to a deployed, monitored forecasting system — final results and business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00C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6879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Magdy . Amr Sherif . Hamed Mohammed . Mahitab Mohammed . Mariam Sayed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· Milestone 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milestones, one deployed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" y="2537460"/>
            <a:ext cx="8851392" cy="0"/>
          </a:xfrm>
          <a:prstGeom prst="line">
            <a:avLst/>
          </a:prstGeom>
          <a:noFill/>
          <a:ln w="381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80" dirty="0"/>
          </a:p>
        </p:txBody>
      </p:sp>
      <p:sp>
        <p:nvSpPr>
          <p:cNvPr id="7" name="Text 5"/>
          <p:cNvSpPr/>
          <p:nvPr/>
        </p:nvSpPr>
        <p:spPr>
          <a:xfrm>
            <a:off x="137160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3840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1.02M raw rows cleaned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 844K-row 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210312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52928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80" dirty="0"/>
          </a:p>
        </p:txBody>
      </p:sp>
      <p:sp>
        <p:nvSpPr>
          <p:cNvPr id="11" name="Text 9"/>
          <p:cNvSpPr/>
          <p:nvPr/>
        </p:nvSpPr>
        <p:spPr>
          <a:xfrm>
            <a:off x="2350008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50008" y="3840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engineered features,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sales drivers found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210312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65776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80" dirty="0"/>
          </a:p>
        </p:txBody>
      </p:sp>
      <p:sp>
        <p:nvSpPr>
          <p:cNvPr id="15" name="Text 13"/>
          <p:cNvSpPr/>
          <p:nvPr/>
        </p:nvSpPr>
        <p:spPr>
          <a:xfrm>
            <a:off x="4562856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3840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vs XGBoost,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&amp; compared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78624" y="2103120"/>
            <a:ext cx="868680" cy="8686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78624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80" dirty="0"/>
          </a:p>
        </p:txBody>
      </p:sp>
      <p:sp>
        <p:nvSpPr>
          <p:cNvPr id="19" name="Text 17"/>
          <p:cNvSpPr/>
          <p:nvPr/>
        </p:nvSpPr>
        <p:spPr>
          <a:xfrm>
            <a:off x="6775704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MLOps, Deployment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75704" y="3840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DVC, Streamlit,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alerting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1472" y="2103120"/>
            <a:ext cx="868680" cy="868680"/>
          </a:xfrm>
          <a:prstGeom prst="ellipse">
            <a:avLst/>
          </a:prstGeom>
          <a:solidFill>
            <a:srgbClr val="00C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91472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80" dirty="0"/>
          </a:p>
        </p:txBody>
      </p:sp>
      <p:sp>
        <p:nvSpPr>
          <p:cNvPr id="23" name="Text 21"/>
          <p:cNvSpPr/>
          <p:nvPr/>
        </p:nvSpPr>
        <p:spPr>
          <a:xfrm>
            <a:off x="8988552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Presentation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88552" y="3840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and deck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230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produced along the way: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532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 · Cleaned Dataset · Feature Engineering Summary · Model Evaluation Report · Final Model · MLOps Report · Monitoring Setup · Deployed App · Final Report &amp; Presentation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managers must predict sales six weeks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managers are asked to forecast daily sales well in advance. Demand is shaped by promotions, competition, school and state holidays, seasonality, and locality — too many interacting factors to plan manually with confidence.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daily sales per store, accurately and reproducibly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true key drivers of sales performance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inventory and staffing optimization decisions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model as a monitored, production-ready 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3252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across Germany to forecast for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yrs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325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history (Jan 2013 – Jul 2015)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014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32520" y="4087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forecast horizon required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4855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32520" y="49286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days run an active promotion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raw files, one production-ready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844,338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store-day records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918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stores, Germany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0350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model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600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2013–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2015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10996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(historical_sales.csv)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 (cleaned_data.csv)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1,017,209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844,338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(+10 in store_details)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(merged &amp; engineered)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 sales file; up to 48.79% in store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across all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€ (0 – 41,551)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Log-transformed (3.83 – 10.63)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— leakage risk (r = 0.89 with Sales)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Rossmann Store Sales dataset · merged, deduplicated, and validated with zero missing values or duplicate rows remaining.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raw data told us before any cleaning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was structural, not random: no competitor recorded, or store not enrolled in Promo2 — so it was flagged, not fabricated via imputation.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18745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historical_sales.csv itself had zero missing values across 1,017,209 rows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~17.0% of rows (172,871) are closed-store days with Sales = 0 — no forecasting signal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Customers are strongly correlated (r = 0.89) — but Customers isn't known in advance, so it can't be used as a predictor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StateHoliday mixed integer 0 and string '0' as separate categories — a subtle bug that would silently split holiday stats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CompetitionOpenSinceYear included an implausible floor value of 1900 — treated as a placeholder, not real data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ANALYSIS &amp;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and store type are the strongest sales levers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applied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35240" y="18745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store attributes onto daily sales; dropped 172,871 closed-store rows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Customers (leakage); fixed StateHoliday type inconsistency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CompetitionDistanceMissing / CompetitionOpenMissing flags instead of imputing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Sales; encoded Store by target mean (Store_TargetEnc)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check: only 1.64% of rows fell outside IQR fences — low enough, and explained by real promo/holiday spikes, that none were removed.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· 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gradient-boosting models, tuned and compared fairly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(LightGBM / XGBoost)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1691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0C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→ €)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scaler + model in one Scikit-learn Pipeline guarantees identical preprocessing at training and inference time.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RandomizedSearchCV · 10 iterations · 3-fold cross-validation · scored on R²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0881360" cy="26060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(final)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(final)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(num_leaves=63)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min_child_samples =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 = 0.8, min_child_weight =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wins on every metric — not a trade-off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44805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554480"/>
          <a:ext cx="630936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839.31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349240" y="39776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−€24.13 · RMSE −€49.67 vs. LightGBM — XGBoost handles peak-sales days and outlier stores meaningfully better.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47091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production model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868680" y="516636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experiment: rossmann-sales-forecasting · 5 tracked runs (2 baselines, 2 tuned, 1 registered)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rossmann-sales-forecasting-model, Version 2 — alias Champion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MLOPS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tracked, every dataset versioned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 — rossmann-sales-forecasting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881360" cy="1965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LightGBM_baseline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913.77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LightGBM_tuned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839.31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XGBoost_baseline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850.41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XGBoost_tuned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Best_Model_XGBoost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Registered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— experiment registry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metrics &amp; model artifacts logged per run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promoted to the registry as Champion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mlflow ui rebuilds the full run history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41605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653796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— data &amp; pipeline versioning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4663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&amp; preprocessed data versioned via a Google Drive remote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dvc.yaml pipeline regenerates drift-reference stats reproducibly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 can be DVC-tracked alongside code for full reproducibility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ways to reach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00C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forecasting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form for all 19 features, one store/day at a time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flags out-of-range values before predicting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result: predicted € sales + model performance panel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logged automatically for monitoring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82512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02552" y="1920240"/>
            <a:ext cx="594360" cy="59436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0255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434072" y="1984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forecasting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2552" y="26974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many store/day rows via the UI — no command line needed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validation + downloadable template for correct formatting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table, summary stats, and a downloadable results CSV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monitoring log as real-time — one unified audit trail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loop: drift, accuracy, and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80360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drift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(PSI)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32120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closes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3880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50392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 compares recent inputs to the training distribution per feature.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&lt; 0.10 ok · 0.10–0.25 warning · ≥ 0.25 critical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74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sales logged back against a Prediction ID — one at a time or in bulk via CSV — powers rolling MAE / RMSE / MAPE.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4747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on MAPE, RMSE, and PSI raise alerts automatically. Optional Slack / email delivery; always logged locally.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forecasts, scaled across 1,115 stores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815€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920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7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1737360"/>
            <a:ext cx="7543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1,115 stores × ~365 forecasted days/year, a 24€ MAE improvement over the runner-up model compounds into materially better inventory and staffing decisions at scale — without any trade-off across metrics.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forecasts create 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858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stock levels matched to predicted demand — fewer stockouts on high-promo days, less waste on slow days.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3858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schedules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staff to expected footfall instead of flat weekly patterns — Monday-high, Sunday-closed patterns are now quantified.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3858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427939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lifts average log-sales from 8.60 to 8.95 — plan promotional calendars around forecasted, not guessed, impact.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in the way, and how we resolved it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4892041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resolved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missingness (32%–49%) in competition/Promo2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indicator flags instead of imputing — preserved the signal without fabricating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StateHoliday silently split into two categories (int 0 vs string '0')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to one consistent type before any grouping or encoding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Closed-store days (17% of rows) masking true demand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Sales = 0 / Open = 0 rows so day-of-week and holiday stats reflect real trading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strongly predicts Sales (r = 0.89) but isn't known in advance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from the feature set to prevent data leakage at inference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comparison between two different gradient-boosting libraries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pipeline, identical chronological split, RandomizedSearchCV for both, scored on the same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distribution for drift detection needs the full feature-engineered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the available cleaned data where possible; gaps clearly flagged "assumed" pending the full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0C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280160" y="16184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performance monitoring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66360" y="161848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delivered this milestone — PSI drift detection, feedback loop, and threshold alerting are live.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280160" y="24597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2459736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 (precipitation, temperature) and competitor pricing as known retail sales drivers.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280160" y="33009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Longer-horizon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3300984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or Temporal Fusion Transformer architectures for capturing long-range temporal dependencies.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8016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4142232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retraining via DVC when drift/performance alerts sustain, rather than manual notebook runs.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10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280160" y="4983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49834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hierarchical or per-store-type models where a single pooled model may underperform (e.g. StoreType b).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2011680"/>
            <a:ext cx="4206240" cy="4206240"/>
          </a:xfrm>
          <a:prstGeom prst="ellipse">
            <a:avLst/>
          </a:prstGeom>
          <a:solidFill>
            <a:srgbClr val="00C87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forecasting model that's accurate,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and production-ready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83.06%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(R²)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error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844K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7782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10515600" cy="0"/>
          </a:xfrm>
          <a:prstGeom prst="line">
            <a:avLst/>
          </a:prstGeom>
          <a:noFill/>
          <a:ln w="12700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1M+ raw transaction rows to a deployed, monitored Streamlit application — this system gives Rossmann store managers actionable, trustworthy daily sales forecasts to plan inventory, staffing, and promotions with confidence.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Optimization · DEPI Round 4 · Data Science &amp; 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1764</Words>
  <Application>Microsoft Office PowerPoint</Application>
  <PresentationFormat>Widescreen</PresentationFormat>
  <Paragraphs>323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Mahitab 20230441</cp:lastModifiedBy>
  <cp:revision>2</cp:revision>
  <dcterms:created xsi:type="dcterms:W3CDTF">2026-07-09T20:59:34Z</dcterms:created>
  <dcterms:modified xsi:type="dcterms:W3CDTF">2026-07-09T21:16:31Z</dcterms:modified>
</cp:coreProperties>
</file>